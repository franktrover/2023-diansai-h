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48" y="2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5200" b="1">
                <a:solidFill>
                  <a:srgbClr val="FFFFFF"/>
                </a:solidFill>
              </a:defRPr>
            </a:pPr>
            <a:r>
              <a:t>信号分离装置设计报告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800" b="0">
                <a:solidFill>
                  <a:srgbClr val="99BBDD"/>
                </a:solidFill>
              </a:defRPr>
            </a:pPr>
            <a:r>
              <a:t>唐广洲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0" y="3337560"/>
            <a:ext cx="3931920" cy="0"/>
          </a:xfrm>
          <a:prstGeom prst="line">
            <a:avLst/>
          </a:prstGeom>
          <a:ln w="254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目  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1887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一、题目要求与总体指标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4708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二、方案论证与选择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505456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三、理论分析与计算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163824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四、电路设计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822191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五、程序设计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480559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六、测试方案与结果记录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13892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七、改进方案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一、题目要求与总体指标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03520" cy="4572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独立加法器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信号源 A、B → 加法器 → 混合信号 C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加法器与分离电路只连接 C 和地线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峰峰值 1 V，频率范围 20 kHz–100 kHz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输出信号同频稳定，无明显失真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输出 Vpp ≥ 1 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94960" cy="4572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测试场景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基本项  </a:t>
            </a:r>
            <a:r>
              <a:rPr sz="2000">
                <a:solidFill>
                  <a:srgbClr val="1A1A1A"/>
                </a:solidFill>
              </a:rPr>
              <a:t>双正弦，50 kHz + 100 kHz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基本项（整数倍）  </a:t>
            </a:r>
            <a:r>
              <a:rPr sz="2000">
                <a:solidFill>
                  <a:srgbClr val="1A1A1A"/>
                </a:solidFill>
              </a:rPr>
              <a:t>双正弦，10 kHz 整数倍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发挥项  </a:t>
            </a:r>
            <a:r>
              <a:rPr sz="2000">
                <a:solidFill>
                  <a:srgbClr val="1A1A1A"/>
                </a:solidFill>
              </a:rPr>
              <a:t>正弦 + 三角，5 kHz 整数倍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约束  </a:t>
            </a:r>
            <a:r>
              <a:rPr sz="2000">
                <a:solidFill>
                  <a:srgbClr val="1A1A1A"/>
                </a:solidFill>
              </a:rPr>
              <a:t>正弦信号不落在三角波谐波中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二、方案论证与选择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优点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不足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模拟滤波器组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电路直观，实时性好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频率不固定需大量滤波器；调试量大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不采用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锁相/相关检测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对已知频率抗噪强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逐频扫描，复杂度高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备用思路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裸板采集方案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硬件最少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ADC 位数和动态范围不足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对比方案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AD9854 DDS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频率分辨率高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控制寄存器多、能力过剩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不采用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AD7616+F407+双 DDS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分辨率高、算法灵活、复杂度适中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依赖 FFT 参数设计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rPr b="1">
                          <a:solidFill>
                            <a:srgbClr val="1A7A4C"/>
                          </a:solidFill>
                        </a:rPr>
                        <a:t>采用 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系统总体框图</a:t>
            </a:r>
          </a:p>
        </p:txBody>
      </p:sp>
      <p:pic>
        <p:nvPicPr>
          <p:cNvPr id="3" name="Picture 2" descr="图一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硬件设计 — 独立加法器</a:t>
            </a:r>
          </a:p>
        </p:txBody>
      </p:sp>
      <p:pic>
        <p:nvPicPr>
          <p:cNvPr id="3" name="Picture 2" descr="图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53949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80960" y="1097280"/>
            <a:ext cx="4114800" cy="5577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电路要点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核心器件
</a:t>
            </a:r>
            <a:r>
              <a:rPr sz="2000">
                <a:solidFill>
                  <a:srgbClr val="1A1A1A"/>
                </a:solidFill>
              </a:rPr>
              <a:t>TL082 双运放（U1）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拓扑结构
</a:t>
            </a:r>
            <a:r>
              <a:rPr sz="2000">
                <a:solidFill>
                  <a:srgbClr val="1A1A1A"/>
                </a:solidFill>
              </a:rPr>
              <a:t>U1.1 反相求和放大器
输入 10 kΩ，反馈 2 kΩ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输入保护
</a:t>
            </a:r>
            <a:r>
              <a:rPr sz="2000">
                <a:solidFill>
                  <a:srgbClr val="1A1A1A"/>
                </a:solidFill>
              </a:rPr>
              <a:t>DSK14 钳位二极管 D3、D4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供电
</a:t>
            </a:r>
            <a:r>
              <a:rPr sz="2000">
                <a:solidFill>
                  <a:srgbClr val="1A1A1A"/>
                </a:solidFill>
              </a:rPr>
              <a:t>TPS5430 产生 ±5 V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接口
</a:t>
            </a:r>
            <a:r>
              <a:rPr sz="2000">
                <a:solidFill>
                  <a:srgbClr val="1A1A1A"/>
                </a:solidFill>
              </a:rPr>
              <a:t>SMA 连接器输入/输出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硬件设计 — 后级放大模块</a:t>
            </a:r>
          </a:p>
        </p:txBody>
      </p:sp>
      <p:pic>
        <p:nvPicPr>
          <p:cNvPr id="3" name="Picture 2" descr="图三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53949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80960" y="1097280"/>
            <a:ext cx="4114800" cy="5577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电路要点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核心器件
</a:t>
            </a:r>
            <a:r>
              <a:rPr sz="2000">
                <a:solidFill>
                  <a:srgbClr val="1A1A1A"/>
                </a:solidFill>
              </a:rPr>
              <a:t>OPA177 精密运放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拓扑
</a:t>
            </a:r>
            <a:r>
              <a:rPr sz="2000">
                <a:solidFill>
                  <a:srgbClr val="1A1A1A"/>
                </a:solidFill>
              </a:rPr>
              <a:t>同相放大器
R_in=5Ω，R_f=100kΩ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供电
</a:t>
            </a:r>
            <a:r>
              <a:rPr sz="2000">
                <a:solidFill>
                  <a:srgbClr val="1A1A1A"/>
                </a:solidFill>
              </a:rPr>
              <a:t>TPS5450 提供 +5 V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交流耦合
</a:t>
            </a:r>
            <a:r>
              <a:rPr sz="2000">
                <a:solidFill>
                  <a:srgbClr val="1A1A1A"/>
                </a:solidFill>
              </a:rPr>
              <a:t>C4=0.1μF，C2=0.1μF
高精度低失调，保真 DDS 波形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三、理论分析与计算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信号模型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C(t) = A(t) + B(t)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A(t) = Vpp/2·sin(2πfAt+φA)，fA&lt;fB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低频→A'，高频→B'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三角波谐波：H3≈1/9，H5≈1/25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515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采样率与 FFT 分辨率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fs = 500 kSPS（AD7616 并口）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N = 2048，Δf = fs/N ≈ 244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Hann 窗 w[n]=0.5−0.5cos(2πn/(N−1))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20–100 kHz → bin 82–410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947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频率栅格吸附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f_grid = round(f_hat/fg)×fg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基本项 fg=10 kHz，发挥项 fg=5 kHz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容差 800 Hz：超出则保持原值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避免 FFT 误差导致示波器漂移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7947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DDS 频率控制字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fout = M×fclk/2²⁸ → M=round(fout×2²⁸/fclk)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AD9833: fclk=25MHz → Δf≈0.093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AD9834: fclk=75MHz → Δf≈0.279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均远小于栅格间隔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状态机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IDLE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ACQUIRE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ANALYZE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463040"/>
            <a:ext cx="237744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OUTPUT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88920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Arrow 7"/>
          <p:cNvSpPr/>
          <p:nvPr/>
        </p:nvSpPr>
        <p:spPr>
          <a:xfrm>
            <a:off x="5623559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8458200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定时触发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识别成功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474720"/>
            <a:ext cx="2377440" cy="1097280"/>
          </a:xfrm>
          <a:prstGeom prst="roundRect">
            <a:avLst/>
          </a:prstGeom>
          <a:solidFill>
            <a:srgbClr val="F5D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2400" b="1">
                <a:solidFill>
                  <a:srgbClr val="B82727"/>
                </a:solidFill>
              </a:defRPr>
            </a:pPr>
            <a:r>
              <a:t>ERROR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7040880" y="2651760"/>
            <a:ext cx="365760" cy="731519"/>
          </a:xfrm>
          <a:prstGeom prst="downArrow">
            <a:avLst/>
          </a:prstGeom>
          <a:solidFill>
            <a:srgbClr val="B8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5236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超时&gt;20s</a:t>
            </a:r>
            <a:br/>
            <a:r>
              <a:t>或采集错误</a:t>
            </a:r>
          </a:p>
        </p:txBody>
      </p:sp>
      <p:sp>
        <p:nvSpPr>
          <p:cNvPr id="16" name="Down Arrow 15"/>
          <p:cNvSpPr/>
          <p:nvPr/>
        </p:nvSpPr>
        <p:spPr>
          <a:xfrm rot="16200000">
            <a:off x="8470788" y="3787902"/>
            <a:ext cx="340584" cy="525780"/>
          </a:xfrm>
          <a:prstGeom prst="downArrow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8869680" y="347472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IDLE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875520" y="2651760"/>
            <a:ext cx="365760" cy="731519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8700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3s延迟</a:t>
            </a:r>
            <a:br/>
            <a:r>
              <a:t>自动重采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信号采集流程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① TIM2 PWM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触发 CONVST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35808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24612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② 等待 BUSY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拉低 (≤20次)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24727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③ 拉低 CS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和 RD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13647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823959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④ 读 GPIOD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16位并行数据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⑤ 拉高 RD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和 CS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35808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4612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⑥ 重复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2048 次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24727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03504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⑦ 帧完成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停止 TIM2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613647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823959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⑧ 切换到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ANALYZE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55448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own Arrow 17"/>
          <p:cNvSpPr/>
          <p:nvPr/>
        </p:nvSpPr>
        <p:spPr>
          <a:xfrm>
            <a:off x="4343399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Down Arrow 18"/>
          <p:cNvSpPr/>
          <p:nvPr/>
        </p:nvSpPr>
        <p:spPr>
          <a:xfrm>
            <a:off x="713232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own Arrow 19"/>
          <p:cNvSpPr/>
          <p:nvPr/>
        </p:nvSpPr>
        <p:spPr>
          <a:xfrm>
            <a:off x="992124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0">
                <a:solidFill>
                  <a:srgbClr val="555555"/>
                </a:solidFill>
              </a:defRPr>
            </a:pPr>
            <a:r>
              <a:t>STM32F407 GPIOD[0:15] 16位并行读取 ADS8688 采样数据 ｜ TIM2 PWM 触发采样率 ≤ 1 MSPS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FFT 频谱分析与谱峰搜索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51560"/>
            <a:ext cx="512064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DSP 处理流水线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① 去直流    </a:t>
            </a:r>
            <a:r>
              <a:rPr sz="1800">
                <a:solidFill>
                  <a:srgbClr val="1A1A1A"/>
                </a:solidFill>
              </a:rPr>
              <a:t>计算 2048 点均值并减去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② Hann 窗    </a:t>
            </a:r>
            <a:r>
              <a:rPr sz="1800">
                <a:solidFill>
                  <a:srgbClr val="1A1A1A"/>
                </a:solidFill>
              </a:rPr>
              <a:t>w[n]=0.5−0.5cos(2πn/(N−1))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③ 2048 点 FFT    </a:t>
            </a:r>
            <a:r>
              <a:rPr sz="1800">
                <a:solidFill>
                  <a:srgbClr val="1A1A1A"/>
                </a:solidFill>
              </a:rPr>
              <a:t>arm_cfft_f32 CMSIS-DSP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④ 幅度谱    </a:t>
            </a:r>
            <a:r>
              <a:rPr sz="1800">
                <a:solidFill>
                  <a:srgbClr val="1A1A1A"/>
                </a:solidFill>
              </a:rPr>
              <a:t>(2/N)√(Re²+Im²) 单边谱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⑤ 主峰搜索    </a:t>
            </a:r>
            <a:r>
              <a:rPr sz="1800">
                <a:solidFill>
                  <a:srgbClr val="1A1A1A"/>
                </a:solidFill>
              </a:rPr>
              <a:t>20k–100k 范围最大 bin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⑥ 次峰搜索    </a:t>
            </a:r>
            <a:r>
              <a:rPr sz="1800">
                <a:solidFill>
                  <a:srgbClr val="1A1A1A"/>
                </a:solidFill>
              </a:rPr>
              <a:t>排除 ±3 bins，≥主峰×5%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⑦ 抛物线插值    </a:t>
            </a:r>
            <a:r>
              <a:rPr sz="1800">
                <a:solidFill>
                  <a:srgbClr val="1A1A1A"/>
                </a:solidFill>
              </a:rPr>
              <a:t>δ=0.5(α−γ)/(α−2β+γ)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0" y="1051560"/>
            <a:ext cx="603504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谱峰搜索策略</a:t>
            </a: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搜索范围：20 kHz ~ 100 kHz</a:t>
            </a: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对应 bin：82 ~ 410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endParaRPr/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保护带：主峰 ±3 bins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排除旁瓣泄漏导致的误判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endParaRPr/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次峰有效性：≥ 主峰 × 5%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过滤噪声尖峰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endParaRPr/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抛物线插值：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δ = 0.5(α−γ)/(α−2β+γ)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精度 ±122 Hz → ±10 Hz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五、谐波折叠搜索与波形分类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51560"/>
            <a:ext cx="576072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谐波折叠搜索算法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1. 对每个分量搜索 3 次和 5 次谐波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2. 计算谐波频率 fold = freq × order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3. 折叠到 Nyquist 域 (fs/2 = 250 kHz)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4. 在折叠 bin ±6 范围内搜索峰值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5. 排除与基频 ±3 bins 重叠区域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6. 谐波 &gt; 基频 × 50% → 碰撞保护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7. H5 碰撞修正：&lt; 7.5% → 三角→正弦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12080" cy="1280160"/>
          </a:xfrm>
          <a:prstGeom prst="roundRect">
            <a:avLst/>
          </a:prstGeom>
          <a:solidFill>
            <a:srgbClr val="E3EB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5E8C"/>
                </a:solidFill>
              </a:defRPr>
            </a:pPr>
            <a:r>
              <a:t>折叠公式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f_fold = f_h × order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f_fold = f_fold % fs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if f_fold &gt; fs/2 : f_fold = fs − f_fold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051560"/>
            <a:ext cx="539496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波形分类规则</a:t>
            </a:r>
          </a:p>
          <a:p>
            <a:pPr>
              <a:spcBef>
                <a:spcPts val="600"/>
              </a:spcBef>
              <a:defRPr sz="1800">
                <a:solidFill>
                  <a:srgbClr val="555555"/>
                </a:solidFill>
              </a:defRPr>
            </a:pPr>
            <a:r>
              <a:t>基于 3 次和 5 次谐波相对幅度</a:t>
            </a:r>
          </a:p>
          <a:p>
            <a:pPr>
              <a:spcBef>
                <a:spcPts val="1600"/>
              </a:spcBef>
            </a:pPr>
            <a:endParaRPr/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A7A4C"/>
                </a:solidFill>
              </a:rPr>
              <a:t>  正弦波    </a:t>
            </a:r>
            <a:r>
              <a:rPr sz="1800">
                <a:solidFill>
                  <a:srgbClr val="1A1A1A"/>
                </a:solidFill>
              </a:rPr>
              <a:t>ratio3 &lt; 5.5%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2E86AB"/>
                </a:solidFill>
              </a:rPr>
              <a:t>  三角波    </a:t>
            </a:r>
            <a:r>
              <a:rPr sz="1800">
                <a:solidFill>
                  <a:srgbClr val="1A1A1A"/>
                </a:solidFill>
              </a:rPr>
              <a:t>2% ≤ ratio3 ≤ 28% 或仅 H5 2.5%~12%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C05621"/>
                </a:solidFill>
              </a:rPr>
              <a:t>  方波    </a:t>
            </a:r>
            <a:r>
              <a:rPr sz="1800">
                <a:solidFill>
                  <a:srgbClr val="1A1A1A"/>
                </a:solidFill>
              </a:rPr>
              <a:t>28% &lt; ratio3 ≤ 60%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555555"/>
                </a:solidFill>
              </a:rPr>
              <a:t>  未知    </a:t>
            </a:r>
            <a:r>
              <a:rPr sz="1800">
                <a:solidFill>
                  <a:srgbClr val="1A1A1A"/>
                </a:solidFill>
              </a:rPr>
              <a:t>其他</a:t>
            </a:r>
          </a:p>
          <a:p>
            <a:pPr>
              <a:spcBef>
                <a:spcPts val="1600"/>
              </a:spcBef>
            </a:pPr>
            <a:r>
              <a:rPr sz="1700" b="1">
                <a:solidFill>
                  <a:srgbClr val="555555"/>
                </a:solidFill>
              </a:rPr>
              <a:t>理论依据：</a:t>
            </a:r>
            <a:r>
              <a:rPr sz="1700">
                <a:solidFill>
                  <a:srgbClr val="555555"/>
                </a:solidFill>
              </a:rPr>
              <a:t>三角波 H3=11.1%,H5=4%；方波 H3=33.3%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五、场景分类与频率栅格吸附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场景分类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1  </a:t>
            </a:r>
            <a:r>
              <a:rPr sz="2200" b="1">
                <a:solidFill>
                  <a:srgbClr val="1A1A1A"/>
                </a:solidFill>
              </a:rPr>
              <a:t>固定频率锁定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50 kHz + 100 kHz 双正弦直接锁定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2  </a:t>
            </a:r>
            <a:r>
              <a:rPr sz="2200" b="1">
                <a:solidFill>
                  <a:srgbClr val="1A1A1A"/>
                </a:solidFill>
              </a:rPr>
              <a:t>10 kHz 栅格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双正弦，均为 10 kHz 整数倍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3  </a:t>
            </a:r>
            <a:r>
              <a:rPr sz="2200" b="1">
                <a:solidFill>
                  <a:srgbClr val="1A1A1A"/>
                </a:solidFill>
              </a:rPr>
              <a:t>5 kHz 栅格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正弦+三角，均为 5 kHz 整数倍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栅格吸附算法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f_grid = round(f_hat/fg)×fg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基本项 fg = 10 kHz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发挥项 fg = 5 kHz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容差：800 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超出容差 → 保持 FFT 原值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防止错误吸附导致 A'/B' 偏差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DDS 双路输出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54864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AD9833 — 低频通道 (A')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主时钟  </a:t>
            </a:r>
            <a:r>
              <a:rPr sz="1700">
                <a:solidFill>
                  <a:srgbClr val="1A1A1A"/>
                </a:solidFill>
              </a:rPr>
              <a:t>25 MHz晶振 → Fout = FREQREG × 25M / 2^28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输出范围  </a:t>
            </a:r>
            <a:r>
              <a:rPr sz="1700">
                <a:solidFill>
                  <a:srgbClr val="1A1A1A"/>
                </a:solidFill>
              </a:rPr>
              <a:t>0 — 12.5 MHz，28-bit 频率字，分辨率 &lt; 0.1 Hz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GPIO SPI  </a:t>
            </a:r>
            <a:r>
              <a:rPr sz="1700">
                <a:solidFill>
                  <a:srgbClr val="1A1A1A"/>
                </a:solidFill>
              </a:rPr>
              <a:t>PA2(FSYNC)  PA4(SCLK)  PA6(SDATA)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3840480"/>
            <a:ext cx="54864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AD9834 — 高频通道 (B')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主时钟  </a:t>
            </a:r>
            <a:r>
              <a:rPr sz="1700">
                <a:solidFill>
                  <a:srgbClr val="1A1A1A"/>
                </a:solidFill>
              </a:rPr>
              <a:t>75 MHz晶振 → Fout = FREQREG × 75M / 2^28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输出范围  </a:t>
            </a:r>
            <a:r>
              <a:rPr sz="1700">
                <a:solidFill>
                  <a:srgbClr val="1A1A1A"/>
                </a:solidFill>
              </a:rPr>
              <a:t>0 — 37.5 MHz，28-bit 频率字，分辨率 &lt; 0.1 Hz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GPIO SPI  </a:t>
            </a:r>
            <a:r>
              <a:rPr sz="1700">
                <a:solidFill>
                  <a:srgbClr val="1A1A1A"/>
                </a:solidFill>
              </a:rPr>
              <a:t>PE2(FSY)  PE4(SCK)  PE6(SDA)  PC0(RST)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波形选择与输出控制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正弦波
</a:t>
            </a:r>
            <a:r>
              <a:rPr sz="1600">
                <a:solidFill>
                  <a:srgbClr val="1A1A1A"/>
                </a:solidFill>
              </a:rPr>
              <a:t>OPBITEN=0, MODE=0 → DAC正弦查表输出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三角波
</a:t>
            </a:r>
            <a:r>
              <a:rPr sz="1600">
                <a:solidFill>
                  <a:srgbClr val="1A1A1A"/>
                </a:solidFill>
              </a:rPr>
              <a:t>OPBITEN=0, MODE=1 → DAC三角波生成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方波
</a:t>
            </a:r>
            <a:r>
              <a:rPr sz="1600">
                <a:solidFill>
                  <a:srgbClr val="1A1A1A"/>
                </a:solidFill>
              </a:rPr>
              <a:t>OPBITEN=1, DIV2=1 → MSB比较器输出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输出配置流程
</a:t>
            </a:r>
            <a:r>
              <a:rPr sz="1600">
                <a:solidFill>
                  <a:srgbClr val="1A1A1A"/>
                </a:solidFill>
              </a:rPr>
              <a:t>① B28模式写入频率字 (14bit×2)
② 写入相位字 PHASE0=0
③ 选择波形 → 释放RESET → 锁存输出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独立总线
</a:t>
            </a:r>
            <a:r>
              <a:rPr sz="1600">
                <a:solidFill>
                  <a:srgbClr val="1A1A1A"/>
                </a:solidFill>
              </a:rPr>
              <a:t>AD9833(GPIOA) 与 AD9834(GPIOE)
各自独立SPI，可同时配置无冲突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0">
                <a:solidFill>
                  <a:srgbClr val="555555"/>
                </a:solidFill>
              </a:defRPr>
            </a:pPr>
            <a:r>
              <a:t>DSP识别完成 → 频率字写入DDS → FSYNC锁存 → 输出同频同波形信号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六、测试方案与结果记录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612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8096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序号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输入 A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输入 B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LCD 识别结果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DDS 输出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示波器结论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50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A:50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A':50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30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A:30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A':30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25 kHz 三角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A:25 kHz 三角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A':25 kHz 三角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40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A:40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A':40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0">
                <a:solidFill>
                  <a:srgbClr val="555555"/>
                </a:solidFill>
              </a:defRPr>
            </a:pPr>
            <a:r>
              <a:t>FFT bin 间隔 ≈ 244 Hz ≪ 5 kHz 栅格 ｜ DDS 分辨率 &lt; 1 Hz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七、改进方案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相位估计与控制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234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FFT 估计初相，写入 DDS 相位寄存器，A'/B' 与原信号可控相位差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可编程增益放大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423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引入 AD8367 VGA，根据采样幅度自动调整，始终满足 Vpp ≥ 1 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多帧平均与置信度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611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多帧平均提高低信噪比下的识别稳定性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LCD 实时频谱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4800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LCD 实时柱状谱，直观展示分离依据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5603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54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 b="0">
                <a:solidFill>
                  <a:srgbClr val="AAAAAA"/>
                </a:solidFill>
              </a:defRPr>
            </a:pPr>
            <a:r>
              <a:t>STM32F407 双 DDS 信号分离装置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1229</Words>
  <Application>Microsoft Office PowerPoint</Application>
  <PresentationFormat>宽屏</PresentationFormat>
  <Paragraphs>242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TANG TANG</cp:lastModifiedBy>
  <cp:revision>2</cp:revision>
  <dcterms:created xsi:type="dcterms:W3CDTF">2013-01-27T09:14:16Z</dcterms:created>
  <dcterms:modified xsi:type="dcterms:W3CDTF">2026-06-08T10:46:24Z</dcterms:modified>
  <cp:category/>
</cp:coreProperties>
</file>