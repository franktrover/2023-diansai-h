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5" r:id="rId26"/>
    <p:sldId id="276" r:id="rId27"/>
    <p:sldId id="277" r:id="rId28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5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9.xml"/><Relationship Id="rId25" Type="http://schemas.openxmlformats.org/officeDocument/2006/relationships/slide" Target="slides/slide18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200" b="1">
                <a:solidFill>
                  <a:srgbClr val="FFFFFF"/>
                </a:solidFill>
              </a:defRPr>
            </a:pPr>
            <a:r>
              <a:t>信号分离装置设计报告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800" b="0">
                <a:solidFill>
                  <a:srgbClr val="99BBDD"/>
                </a:solidFill>
              </a:defRPr>
            </a:pPr>
            <a:r>
              <a:t>唐广洲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3337560"/>
            <a:ext cx="3931920" cy="0"/>
          </a:xfrm>
          <a:prstGeom prst="line">
            <a:avLst/>
          </a:prstGeom>
          <a:ln w="25400"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1" advTm="3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4708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二、方案论证与选择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0545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三、理论分析与计算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四、电路设计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822191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五、程序设计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480559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六、测试方案与结果记录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13892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七、改进方案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一、题目要求与总体指标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0352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独立加法器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信号源 A、B → 加法器 → 混合信号 C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加法器与分离电路只连接 C 和地线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峰峰值 1 V，频率范围 20 kHz–100 kHz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输出信号同频稳定，无明显失真</a:t>
            </a:r>
          </a:p>
          <a:p>
            <a:pPr>
              <a:spcBef>
                <a:spcPts val="1200"/>
              </a:spcBef>
              <a:defRPr sz="2000">
                <a:solidFill>
                  <a:srgbClr val="1A1A1A"/>
                </a:solidFill>
              </a:defRPr>
            </a:pPr>
            <a:r>
              <a:t>输出 Vpp ≥ 1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94960" cy="4572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测试场景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  </a:t>
            </a:r>
            <a:r>
              <a:rPr sz="2000">
                <a:solidFill>
                  <a:srgbClr val="1A1A1A"/>
                </a:solidFill>
              </a:rPr>
              <a:t>双正弦，50 kHz + 100 kHz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基本项（整数倍）  </a:t>
            </a:r>
            <a:r>
              <a:rPr sz="2000">
                <a:solidFill>
                  <a:srgbClr val="1A1A1A"/>
                </a:solidFill>
              </a:rPr>
              <a:t>双正弦，10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发挥项  </a:t>
            </a:r>
            <a:r>
              <a:rPr sz="2000">
                <a:solidFill>
                  <a:srgbClr val="1A1A1A"/>
                </a:solidFill>
              </a:rPr>
              <a:t>正弦 + 三角，5 kHz 整数倍</a:t>
            </a:r>
          </a:p>
          <a:p>
            <a:pPr>
              <a:spcBef>
                <a:spcPts val="1400"/>
              </a:spcBef>
            </a:pPr>
            <a:r>
              <a:rPr sz="2000" b="1">
                <a:solidFill>
                  <a:srgbClr val="1B5E8C"/>
                </a:solidFill>
              </a:rPr>
              <a:t>约束  </a:t>
            </a:r>
            <a:r>
              <a:rPr sz="2000">
                <a:solidFill>
                  <a:srgbClr val="1A1A1A"/>
                </a:solidFill>
              </a:rPr>
              <a:t>正弦信号不落在三角波谐波中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二、方案论证与选择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3474720"/>
                <a:gridCol w="173736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不足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模拟滤波器组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电路直观，实时性好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频率不固定需大量滤波器；调试量大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锁相/相关检测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对已知频率抗噪强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逐频扫描，复杂度高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备用思路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裸板采集方案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硬件最少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ADC 位数和动态范围不足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对比方案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AD9854 DDS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频率分辨率高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控制寄存器多、能力过剩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不采用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AD7616+F407+双 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分辨率高、算法灵活、复杂度适中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t>依赖 FFT 参数设计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A1A1A"/>
                          </a:solidFill>
                        </a:defRPr>
                      </a:pPr>
                      <a:r>
                        <a:rPr b="1">
                          <a:solidFill>
                            <a:srgbClr val="1A7A4C"/>
                          </a:solidFill>
                        </a:rPr>
                        <a:t>采用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1" advTm="30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系统总体框图</a:t>
            </a:r>
          </a:p>
        </p:txBody>
      </p:sp>
      <p:pic>
        <p:nvPicPr>
          <p:cNvPr id="3" name="Picture 2" descr="图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486400"/>
          </a:xfrm>
          <a:prstGeom prst="rect">
            <a:avLst/>
          </a:prstGeom>
        </p:spPr>
      </p:pic>
    </p:spTree>
  </p:cSld>
  <p:clrMapOvr>
    <a:masterClrMapping/>
  </p:clrMapOvr>
  <p:transition advClick="1" advTm="30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独立加法器</a:t>
            </a:r>
          </a:p>
        </p:txBody>
      </p:sp>
      <p:pic>
        <p:nvPicPr>
          <p:cNvPr id="3" name="Picture 2" descr="图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TL082 双运放（U1）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拓扑结构
</a:t>
            </a:r>
            <a:r>
              <a:rPr sz="2000">
                <a:solidFill>
                  <a:srgbClr val="1A1A1A"/>
                </a:solidFill>
              </a:rPr>
              <a:t>U1.1 反相求和放大器
输入 10 kΩ，反馈 2 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输入保护
</a:t>
            </a:r>
            <a:r>
              <a:rPr sz="2000">
                <a:solidFill>
                  <a:srgbClr val="1A1A1A"/>
                </a:solidFill>
              </a:rPr>
              <a:t>DSK14 钳位二极管 D3、D4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TPS5430 产生 ±5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接口
</a:t>
            </a:r>
            <a:r>
              <a:rPr sz="2000">
                <a:solidFill>
                  <a:srgbClr val="1A1A1A"/>
                </a:solidFill>
              </a:rPr>
              <a:t>SMA 连接器输入/输出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硬件设计 — 后级放大模块</a:t>
            </a:r>
          </a:p>
        </p:txBody>
      </p:sp>
      <p:pic>
        <p:nvPicPr>
          <p:cNvPr id="3" name="Picture 2" descr="图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132320" cy="53949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680960" y="1097280"/>
            <a:ext cx="4114800" cy="55778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电路要点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核心器件
</a:t>
            </a:r>
            <a:r>
              <a:rPr sz="2000">
                <a:solidFill>
                  <a:srgbClr val="1A1A1A"/>
                </a:solidFill>
              </a:rPr>
              <a:t>OPA177 精密运放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拓扑
</a:t>
            </a:r>
            <a:r>
              <a:rPr sz="2000">
                <a:solidFill>
                  <a:srgbClr val="1A1A1A"/>
                </a:solidFill>
              </a:rPr>
              <a:t>同相放大器
R_in=5Ω，R_f=100kΩ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供电
</a:t>
            </a:r>
            <a:r>
              <a:rPr sz="2000">
                <a:solidFill>
                  <a:srgbClr val="1A1A1A"/>
                </a:solidFill>
              </a:rPr>
              <a:t>TPS5450 提供 +5 V</a:t>
            </a:r>
          </a:p>
          <a:p>
            <a:pPr>
              <a:spcBef>
                <a:spcPts val="1000"/>
              </a:spcBef>
            </a:pPr>
            <a:r>
              <a:rPr sz="2000" b="1">
                <a:solidFill>
                  <a:srgbClr val="1B5E8C"/>
                </a:solidFill>
              </a:rPr>
              <a:t>交流耦合
</a:t>
            </a:r>
            <a:r>
              <a:rPr sz="2000">
                <a:solidFill>
                  <a:srgbClr val="1A1A1A"/>
                </a:solidFill>
              </a:rPr>
              <a:t>C4=0.1μF，C2=0.1μF
高精度低失真，保真 DDS 波形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硬件调试历程 — 从问题到解决</a:t>
            </a:r>
          </a:p>
        </p:txBody>
      </p:sp>
      <p:pic>
        <p:nvPicPr>
          <p:cNvPr id="3" name="Picture 2" descr="hw_v1_ad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65760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105156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第一版加法器（MCP602）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面包板搭建，SMA 接口输入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MCP602 电源导致带宽不足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电容过大，充放电影响截止频率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输出波形严重失真</a:t>
            </a:r>
          </a:p>
        </p:txBody>
      </p:sp>
      <p:pic>
        <p:nvPicPr>
          <p:cNvPr id="5" name="Picture 4" descr="hw_v1_am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051560"/>
            <a:ext cx="3657600" cy="2377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第一版后级放大（TL072）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面包板飞线，寄生参数严重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TL072 高频下负反馈性能下降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产生相位滞后，波形失真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示波器可见明显畸变</a:t>
            </a:r>
          </a:p>
        </p:txBody>
      </p:sp>
      <p:pic>
        <p:nvPicPr>
          <p:cNvPr id="7" name="Picture 6" descr="hw_v2_ad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611880"/>
            <a:ext cx="3657600" cy="2377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3611880"/>
            <a:ext cx="36576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B5E8C"/>
                </a:solidFill>
              </a:defRPr>
            </a:pPr>
            <a:r>
              <a:t>第二版加法器（洞洞板）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洞洞板焊接，缩短连线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两路跟随输出经加法电阻汇合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高频下寄生参数仍影响反馈</a:t>
            </a:r>
          </a:p>
          <a:p>
            <a:pPr>
              <a:spcBef>
                <a:spcPts val="600"/>
              </a:spcBef>
              <a:defRPr sz="1600">
                <a:solidFill>
                  <a:srgbClr val="1A1A1A"/>
                </a:solidFill>
              </a:defRPr>
            </a:pPr>
            <a:r>
              <a:t>输出出现尖峰和 0V 平台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三、理论分析与计算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信号模型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C(t) = A(t) + B(t)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A(t) = Vpp/2·sin(2πfAt+φA)，fA&lt;fB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低频→A'，高频→B'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三角波谐波：H3≈1/9，H5≈1/25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515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采样率与 FFT 分辨率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fs = 500 kSPS（AD7616 并口）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N = 2048，Δf = fs/N ≈ 244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Hann 窗 w[n]=0.5−0.5cos(2πn/(N−1))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20–100 kHz → bin 82–410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频率栅格吸附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基本项 fg=10 kHz，发挥项 fg=5 kHz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容差 800 Hz：超出则保持原值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避免 FFT 误差导致示波器漂移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94760"/>
            <a:ext cx="5577840" cy="25603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DDS 频率控制字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fout = M×fclk/2²⁸ → M=round(fout×2²⁸/fclk)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AD9833: fclk=25MHz → Δf≈0.093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AD9834: fclk=75MHz → Δf≈0.279 Hz</a:t>
            </a:r>
          </a:p>
          <a:p>
            <a:pPr>
              <a:spcBef>
                <a:spcPts val="800"/>
              </a:spcBef>
              <a:defRPr sz="1800">
                <a:solidFill>
                  <a:srgbClr val="1A1A1A"/>
                </a:solidFill>
              </a:defRPr>
            </a:pPr>
            <a:r>
              <a:t>均远小于栅格间隔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状态机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ACQUIRE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63040"/>
            <a:ext cx="237744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OUTPUT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8892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5623559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8458200" y="1847088"/>
            <a:ext cx="365760" cy="329184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定时触发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A1A1A"/>
                </a:solidFill>
              </a:defRPr>
            </a:pPr>
            <a:r>
              <a:t>识别成功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474720"/>
            <a:ext cx="2377440" cy="1097280"/>
          </a:xfrm>
          <a:prstGeom prst="roundRect">
            <a:avLst/>
          </a:prstGeom>
          <a:solidFill>
            <a:srgbClr val="F5D5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B82727"/>
                </a:solidFill>
              </a:defRPr>
            </a:pPr>
            <a:r>
              <a:t>ERROR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7040880" y="2651760"/>
            <a:ext cx="365760" cy="731519"/>
          </a:xfrm>
          <a:prstGeom prst="downArrow">
            <a:avLst/>
          </a:prstGeom>
          <a:solidFill>
            <a:srgbClr val="B82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超时&gt;20s</a:t>
            </a:r>
            <a:br/>
            <a:r>
              <a:t>或采集错误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086599" y="4617720"/>
            <a:ext cx="274320" cy="502919"/>
          </a:xfrm>
          <a:prstGeom prst="down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5065776"/>
            <a:ext cx="5669279" cy="109728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1417320" y="4663440"/>
            <a:ext cx="274320" cy="457199"/>
          </a:xfrm>
          <a:prstGeom prst="upArrow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166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C05621"/>
                </a:solidFill>
              </a:defRPr>
            </a:pPr>
            <a:r>
              <a:t>自动恢复到 IDLE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474720"/>
            <a:ext cx="237744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2400" b="1">
                <a:solidFill>
                  <a:srgbClr val="1A1A1A"/>
                </a:solidFill>
              </a:defRPr>
            </a:pPr>
            <a:r>
              <a:t>IDLE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875520" y="2651760"/>
            <a:ext cx="365760" cy="731519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555555"/>
                </a:solidFill>
              </a:defRPr>
            </a:pPr>
            <a:r>
              <a:t>3s延迟</a:t>
            </a:r>
            <a:br/>
            <a:r>
              <a:t>自动重采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信号采集流程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① TIM2 PWM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触发 CONVST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35808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612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② 等待 BUSY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拉低 (≤20次)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2472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③ 拉低 CS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3647" y="1783080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59" y="1371600"/>
            <a:ext cx="2560320" cy="109728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④ 读 GPIOD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16位并行数据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⑤ 拉高 RD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和 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35808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⑥ 重复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2048 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⑦ 帧完成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停止 TIM2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13647" y="4343399"/>
            <a:ext cx="192024" cy="274320"/>
          </a:xfrm>
          <a:prstGeom prst="right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59" y="3931920"/>
            <a:ext cx="2560320" cy="1097280"/>
          </a:xfrm>
          <a:prstGeom prst="round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⑧ 切换到</a:t>
            </a:r>
          </a:p>
          <a:p>
            <a:pPr algn="ctr">
              <a:defRPr sz="1800" b="1">
                <a:solidFill>
                  <a:srgbClr val="1A1A1A"/>
                </a:solidFill>
              </a:defRPr>
            </a:pPr>
            <a:r>
              <a:t>ANALYZE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55448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4343399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713232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921240" y="2514600"/>
            <a:ext cx="365760" cy="1371600"/>
          </a:xfrm>
          <a:prstGeom prst="downArrow">
            <a:avLst/>
          </a:prstGeom>
          <a:solidFill>
            <a:srgbClr val="1B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0">
                <a:solidFill>
                  <a:srgbClr val="555555"/>
                </a:solidFill>
              </a:defRPr>
            </a:pPr>
            <a:r>
              <a:t>STM32F407 GPIOD[0:15] 16位并行读取 ADS8688 采样数据 ｜ TIM2 PWM 触发采样率 ≤ 1 MSPS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FFT 频谱分析与谱峰搜索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1206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DSP 处理流水线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① 去直流    </a:t>
            </a:r>
            <a:r>
              <a:rPr sz="1800">
                <a:solidFill>
                  <a:srgbClr val="1A1A1A"/>
                </a:solidFill>
              </a:rPr>
              <a:t>计算 2048 点均值并减去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② Hann 窗    </a:t>
            </a:r>
            <a:r>
              <a:rPr sz="1800">
                <a:solidFill>
                  <a:srgbClr val="1A1A1A"/>
                </a:solidFill>
              </a:rPr>
              <a:t>w[n]=0.5−0.5cos(2πn/(N−1))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③ 2048 点 FFT    </a:t>
            </a:r>
            <a:r>
              <a:rPr sz="1800">
                <a:solidFill>
                  <a:srgbClr val="1A1A1A"/>
                </a:solidFill>
              </a:rPr>
              <a:t>arm_cfft_f32 CMSIS-DSP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④ 幅度谱    </a:t>
            </a:r>
            <a:r>
              <a:rPr sz="1800">
                <a:solidFill>
                  <a:srgbClr val="1A1A1A"/>
                </a:solidFill>
              </a:rPr>
              <a:t>(2/N)√(Re²+Im²) 单边谱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⑤ 主峰搜索    </a:t>
            </a:r>
            <a:r>
              <a:rPr sz="1800">
                <a:solidFill>
                  <a:srgbClr val="1A1A1A"/>
                </a:solidFill>
              </a:rPr>
              <a:t>20k–100k 范围最大 bin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⑥ 次峰搜索    </a:t>
            </a:r>
            <a:r>
              <a:rPr sz="1800">
                <a:solidFill>
                  <a:srgbClr val="1A1A1A"/>
                </a:solidFill>
              </a:rPr>
              <a:t>排除 ±3 bins，≥主峰×5%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1B5E8C"/>
                </a:solidFill>
              </a:rPr>
              <a:t>⑦ 抛物线插值    </a:t>
            </a:r>
            <a:r>
              <a:rPr sz="1800">
                <a:solidFill>
                  <a:srgbClr val="1A1A1A"/>
                </a:solidFill>
              </a:rPr>
              <a:t>δ=0.5(α−γ)/(α−2β+γ)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720" y="1051560"/>
            <a:ext cx="603504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谱峰搜索策略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搜索范围：20 kHz ~ 100 kHz</a:t>
            </a: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对应 bin：82 ~ 410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保护带：主峰 ±3 bins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排除旁瓣泄漏导致的误判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次峰有效性：≥ 主峰 × 5%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过滤噪声尖峰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</a:p>
          <a:p>
            <a:pPr>
              <a:spcBef>
                <a:spcPts val="500"/>
              </a:spcBef>
              <a:defRPr sz="1900" b="1">
                <a:solidFill>
                  <a:srgbClr val="1B5E8C"/>
                </a:solidFill>
              </a:defRPr>
            </a:pPr>
            <a:r>
              <a:t>抛物线插值：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δ = 0.5(α−γ)/(α−2β+γ)</a:t>
            </a:r>
          </a:p>
          <a:p>
            <a:pPr>
              <a:spcBef>
                <a:spcPts val="500"/>
              </a:spcBef>
              <a:defRPr sz="1700" b="0">
                <a:solidFill>
                  <a:srgbClr val="1A1A1A"/>
                </a:solidFill>
              </a:defRPr>
            </a:pPr>
            <a:r>
              <a:t>  精度 ±122 Hz → ±10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五、谐波折叠搜索与波形分类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576072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谐波折叠搜索算法</a:t>
            </a:r>
          </a:p>
          <a:p/>
          <a:p/>
          <a:p/>
          <a:p/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1. 对每个分量搜索 3 次和 5 次谐波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2. 计算谐波频率 fold = freq × order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3. 折叠到 Nyquist 域 (fs/2 = 250 kHz)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4. 在折叠 bin ±6 范围内搜索峰值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5. 排除与基频 ±3 bins 重叠区域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6. 谐波 &gt; 基频 × 50% → 碰撞保护</a:t>
            </a:r>
          </a:p>
          <a:p>
            <a:pPr>
              <a:spcBef>
                <a:spcPts val="700"/>
              </a:spcBef>
              <a:defRPr sz="1900">
                <a:solidFill>
                  <a:srgbClr val="1A1A1A"/>
                </a:solidFill>
              </a:defRPr>
            </a:pPr>
            <a:r>
              <a:t>7. H5 碰撞修正：&lt; 7.5% → 三角→正弦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212080" cy="1280160"/>
          </a:xfrm>
          <a:prstGeom prst="roundRect">
            <a:avLst/>
          </a:prstGeom>
          <a:solidFill>
            <a:srgbClr val="E3EB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B5E8C"/>
                </a:solidFill>
              </a:defRPr>
            </a:pPr>
            <a:r>
              <a:t>折叠公式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f_h × order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f_fold = f_fold % fs</a:t>
            </a:r>
          </a:p>
          <a:p>
            <a:pPr>
              <a:spcBef>
                <a:spcPts val="200"/>
              </a:spcBef>
              <a:defRPr sz="1800">
                <a:solidFill>
                  <a:srgbClr val="1A1A1A"/>
                </a:solidFill>
              </a:defRPr>
            </a:pPr>
            <a:r>
              <a:t>if f_fold &gt; fs/2 : f_fold = fs − f_fold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394960" cy="5394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波形分类规则</a:t>
            </a:r>
          </a:p>
          <a:p>
            <a:pPr>
              <a:spcBef>
                <a:spcPts val="600"/>
              </a:spcBef>
              <a:defRPr sz="1800">
                <a:solidFill>
                  <a:srgbClr val="555555"/>
                </a:solidFill>
              </a:defRPr>
            </a:pPr>
            <a:r>
              <a:t>基于 3 次和 5 次谐波相对幅度</a:t>
            </a:r>
          </a:p>
          <a:p>
            <a:pPr>
              <a:spcBef>
                <a:spcPts val="1600"/>
              </a:spcBef>
            </a:pP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A7A4C"/>
                </a:solidFill>
              </a:rPr>
              <a:t>  正弦波    </a:t>
            </a:r>
            <a:r>
              <a:rPr sz="1800">
                <a:solidFill>
                  <a:srgbClr val="1A1A1A"/>
                </a:solidFill>
              </a:rPr>
              <a:t>ratio3 &lt; 5.5%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2E86AB"/>
                </a:solidFill>
              </a:rPr>
              <a:t>  三角波    </a:t>
            </a:r>
            <a:r>
              <a:rPr sz="1800">
                <a:solidFill>
                  <a:srgbClr val="1A1A1A"/>
                </a:solidFill>
              </a:rPr>
              <a:t>2% ≤ ratio3 ≤ 28% 或仅 H5 2.5%~12%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C05621"/>
                </a:solidFill>
              </a:rPr>
              <a:t>  方波    </a:t>
            </a:r>
            <a:r>
              <a:rPr sz="1800">
                <a:solidFill>
                  <a:srgbClr val="1A1A1A"/>
                </a:solidFill>
              </a:rPr>
              <a:t>28% &lt; ratio3 ≤ 60%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555555"/>
                </a:solidFill>
              </a:rPr>
              <a:t>  未知    </a:t>
            </a:r>
            <a:r>
              <a:rPr sz="1800">
                <a:solidFill>
                  <a:srgbClr val="1A1A1A"/>
                </a:solidFill>
              </a:rPr>
              <a:t>其他</a:t>
            </a:r>
          </a:p>
          <a:p>
            <a:pPr>
              <a:spcBef>
                <a:spcPts val="1600"/>
              </a:spcBef>
            </a:pPr>
            <a:r>
              <a:rPr sz="1700" b="1">
                <a:solidFill>
                  <a:srgbClr val="555555"/>
                </a:solidFill>
              </a:rPr>
              <a:t>理论依据：</a:t>
            </a:r>
            <a:r>
              <a:rPr sz="1700">
                <a:solidFill>
                  <a:srgbClr val="555555"/>
                </a:solidFill>
              </a:rPr>
              <a:t>三角波 H3=11.1%,H5=4%；方波 H3=33.3%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五、场景分类与频率栅格吸附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场景分类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1  </a:t>
            </a:r>
            <a:r>
              <a:rPr sz="2200" b="1">
                <a:solidFill>
                  <a:srgbClr val="1A1A1A"/>
                </a:solidFill>
              </a:rPr>
              <a:t>固定频率锁定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50 kHz + 100 kHz 双正弦直接锁定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2  </a:t>
            </a:r>
            <a:r>
              <a:rPr sz="2200" b="1">
                <a:solidFill>
                  <a:srgbClr val="1A1A1A"/>
                </a:solidFill>
              </a:rPr>
              <a:t>10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双正弦，均为 10 kHz 整数倍</a:t>
            </a:r>
          </a:p>
          <a:p>
            <a:pPr>
              <a:spcBef>
                <a:spcPts val="1400"/>
              </a:spcBef>
            </a:pPr>
            <a:r>
              <a:rPr sz="2200" b="1">
                <a:solidFill>
                  <a:srgbClr val="1B5E8C"/>
                </a:solidFill>
              </a:rPr>
              <a:t>场景 3  </a:t>
            </a:r>
            <a:r>
              <a:rPr sz="2200" b="1">
                <a:solidFill>
                  <a:srgbClr val="1A1A1A"/>
                </a:solidFill>
              </a:rPr>
              <a:t>5 kHz 栅格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正弦+三角，均为 5 kHz 整数倍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B5E8C"/>
                </a:solidFill>
              </a:defRPr>
            </a:pPr>
            <a:r>
              <a:t>栅格吸附算法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f_grid = round(f_hat/fg)×fg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基本项 fg = 10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发挥项 fg = 5 kHz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容差：800 Hz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超出容差 → 保持 FFT 原值</a:t>
            </a:r>
          </a:p>
          <a:p>
            <a:pPr>
              <a:spcBef>
                <a:spcPts val="600"/>
              </a:spcBef>
              <a:defRPr sz="2000" b="1">
                <a:solidFill>
                  <a:srgbClr val="1A1A1A"/>
                </a:solidFill>
              </a:defRPr>
            </a:pPr>
            <a:r>
              <a:t>防止错误吸附导致 A'/B' 偏差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五、程序设计 — DDS 双路输出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AD9833 — 低频通道 (A')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25 MHz晶振 → Fout = FREQREG × 25M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12.5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PA2(FSYNC)  PA4(SCLK)  PA6(SDATA)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5486400" cy="237744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AD9834 — 高频通道 (B')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主时钟  </a:t>
            </a:r>
            <a:r>
              <a:rPr sz="1700">
                <a:solidFill>
                  <a:srgbClr val="1A1A1A"/>
                </a:solidFill>
              </a:rPr>
              <a:t>75 MHz晶振 → Fout = FREQREG × 75M / 2^28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输出范围  </a:t>
            </a:r>
            <a:r>
              <a:rPr sz="1700">
                <a:solidFill>
                  <a:srgbClr val="1A1A1A"/>
                </a:solidFill>
              </a:rPr>
              <a:t>0 — 37.5 MHz，28-bit 频率字，分辨率 &lt; 0.1 Hz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GPIO SPI  </a:t>
            </a:r>
            <a:r>
              <a:rPr sz="1700">
                <a:solidFill>
                  <a:srgbClr val="1A1A1A"/>
                </a:solidFill>
              </a:rPr>
              <a:t>PE2(FSY)  PE4(SCK)  PE6(SDA)  PC0(RST)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486400" cy="50292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波形选择与输出控制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正弦波
</a:t>
            </a:r>
            <a:r>
              <a:rPr sz="1600">
                <a:solidFill>
                  <a:srgbClr val="1A1A1A"/>
                </a:solidFill>
              </a:rPr>
              <a:t>OPBITEN=0, MODE=0 → DAC正弦查表输出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三角波
</a:t>
            </a:r>
            <a:r>
              <a:rPr sz="1600">
                <a:solidFill>
                  <a:srgbClr val="1A1A1A"/>
                </a:solidFill>
              </a:rPr>
              <a:t>OPBITEN=0, MODE=1 → DAC三角波生成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方波
</a:t>
            </a:r>
            <a:r>
              <a:rPr sz="1600">
                <a:solidFill>
                  <a:srgbClr val="1A1A1A"/>
                </a:solidFill>
              </a:rPr>
              <a:t>OPBITEN=1, DIV2=1 → MSB比较器输出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输出配置流程
</a:t>
            </a:r>
            <a:r>
              <a:rPr sz="1600">
                <a:solidFill>
                  <a:srgbClr val="1A1A1A"/>
                </a:solidFill>
              </a:rPr>
              <a:t>① B28模式写入频率字 (14bit×2)
② 写入相位字 PHASE0=0
③ 选择波形 → 释放RESET → 锁存输出</a:t>
            </a:r>
          </a:p>
          <a:p>
            <a:pPr>
              <a:spcBef>
                <a:spcPts val="600"/>
              </a:spcBef>
            </a:pPr>
            <a:r>
              <a:rPr sz="1800" b="1">
                <a:solidFill>
                  <a:srgbClr val="1B5E8C"/>
                </a:solidFill>
              </a:rPr>
              <a:t>独立总线
</a:t>
            </a:r>
            <a:r>
              <a:rPr sz="1600">
                <a:solidFill>
                  <a:srgbClr val="1A1A1A"/>
                </a:solidFill>
              </a:rPr>
              <a:t>AD9833(GPIOA) 与 AD9834(GPIOE)
各自独立SPI，可同时配置无冲突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0">
                <a:solidFill>
                  <a:srgbClr val="555555"/>
                </a:solidFill>
              </a:defRPr>
            </a:pPr>
            <a:r>
              <a:t>DSP识别完成 → 频率字写入DDS → FSYNC锁存 → 输出同频同波形信号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六、测试方案与结果记录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645920"/>
                <a:gridCol w="2743200"/>
                <a:gridCol w="2743200"/>
                <a:gridCol w="210312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A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输入 B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LCD 识别结果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DDS 输出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示波器结论</a:t>
                      </a:r>
                    </a:p>
                  </a:txBody>
                  <a:tcPr>
                    <a:solidFill>
                      <a:srgbClr val="0A1F3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50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A':50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B':100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A':30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B':80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25 kHz 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A':25 kHz 三角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B':70 kHz 正弦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40 kHz 正弦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A':40 kHz 正弦</a:t>
                      </a:r>
                    </a:p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B':95 kHz 三角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A1A1A"/>
                          </a:solidFill>
                        </a:defRPr>
                      </a:pPr>
                      <a:r>
                        <a:t>同频稳定，无失真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555555"/>
                </a:solidFill>
              </a:defRPr>
            </a:pPr>
            <a:r>
              <a:t>FFT bin 间隔 ≈ 244 Hz ≪ 5 kHz 栅格 ｜ DDS 分辨率 &lt; 1 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七、改进方案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相位估计与控制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2344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FFT 估计初相，写入 DDS 相位寄存器，A'/B' 与原信号可控相位差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可编程增益放大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23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引入 AD8367 VGA，根据采样幅度自动调整，始终满足 Vpp ≥ 1 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多帧平均与置信度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611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多帧平均提高低信噪比下的识别稳定性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2286000" cy="731520"/>
          </a:xfrm>
          <a:prstGeom prst="round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 bIns="50800" lIns="76200" rIns="76200"/>
          <a:lstStyle/>
          <a:p>
            <a:pPr algn="ctr">
              <a:defRPr sz="1800" b="1">
                <a:solidFill>
                  <a:srgbClr val="1A1A1A"/>
                </a:solidFill>
              </a:defRPr>
            </a:pPr>
            <a:r>
              <a:t>LCD 实时频谱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4800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0">
                <a:solidFill>
                  <a:srgbClr val="1A1A1A"/>
                </a:solidFill>
              </a:defRPr>
            </a:pPr>
            <a:r>
              <a:t>LCD 实时柱状谱，直观展示分离依据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完成品展示</a:t>
            </a:r>
          </a:p>
        </p:txBody>
      </p:sp>
      <p:pic>
        <p:nvPicPr>
          <p:cNvPr id="3" name="Picture 2" descr="hw_resul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206240"/>
          </a:xfrm>
          <a:prstGeom prst="rect">
            <a:avLst/>
          </a:prstGeom>
        </p:spPr>
      </p:pic>
      <p:pic>
        <p:nvPicPr>
          <p:cNvPr id="4" name="Picture 3" descr="hw_resul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486400"/>
            <a:ext cx="114300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5E8C"/>
                </a:solidFill>
              </a:defRPr>
            </a:pPr>
            <a:r>
              <a:t>测试环境与结果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双路 DDS 输出经加法器合成，示波器验证同频稳定、无明显失真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SIGLENT SDS 1202X-E 示波器实测，Vpp ≥ 1 V，频率范围 20 kHz – 100 kHz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603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AAAAAA"/>
                </a:solidFill>
              </a:defRPr>
            </a:pPr>
            <a:r>
              <a:t>STM32F407 双 DDS 信号分离装置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第一版加法器（MCP602）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hw_v1_adder_sco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面包板搭建，MCP602 运放电源导致带宽不足，电容过大充放电影响截止频率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输出波形严重失真，无法满足 20 kHz – 100 kHz 频率范围要求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第一版后级放大（TL072）</a:t>
            </a:r>
          </a:p>
        </p:txBody>
      </p:sp>
      <p:pic>
        <p:nvPicPr>
          <p:cNvPr id="3" name="Picture 2" descr="hw_v1_amp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面包板飞线寄生参数严重，TL072 高频下负反馈性能下降并产生相位滞后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示波器可见输出波形明显畸变，三角波顶部出现尖峰</a:t>
            </a:r>
          </a:p>
        </p:txBody>
      </p:sp>
    </p:spTree>
  </p:cSld>
  <p:clrMapOvr>
    <a:masterClrMapping/>
  </p:clrMapOvr>
  <p:transition advClick="1" advTm="3000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09728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硬件调试 — 第二版加法器（洞洞板）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4114800"/>
          </a:xfrm>
          <a:prstGeom prst="rect">
            <a:avLst/>
          </a:prstGeom>
        </p:spPr>
      </p:pic>
      <p:pic>
        <p:nvPicPr>
          <p:cNvPr id="4" name="Picture 3" descr="hw_v2_adder_sco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114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65760" y="5394960"/>
            <a:ext cx="11430000" cy="11887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B82727"/>
                </a:solidFill>
              </a:defRPr>
            </a:pPr>
            <a:r>
              <a:t>问题分析与改进方向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洞洞板焊接缩短连线，两路跟随输出经加法电阻汇合</a:t>
            </a:r>
          </a:p>
          <a:p>
            <a:pPr>
              <a:spcBef>
                <a:spcPts val="600"/>
              </a:spcBef>
              <a:defRPr sz="1800">
                <a:solidFill>
                  <a:srgbClr val="1A1A1A"/>
                </a:solidFill>
              </a:defRPr>
            </a:pPr>
            <a:r>
              <a:t>高频下寄生参数仍影响负反馈稳定性 → 最终改用 PCB 方案</a:t>
            </a:r>
          </a:p>
        </p:txBody>
      </p:sp>
    </p:spTree>
  </p:cSld>
  <p:clrMapOvr>
    <a:masterClrMapping/>
  </p:clrMapOvr>
  <p:transition advClick="1" advTm="3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